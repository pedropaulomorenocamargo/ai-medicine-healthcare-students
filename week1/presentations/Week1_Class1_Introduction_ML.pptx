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05307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551682"/>
            <a:ext cx="5508689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spcAft>
                <a:spcPts val="12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 to Machine Learning in Medicine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304800" y="2793504"/>
            <a:ext cx="870508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18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1: The ML Pipeline &amp; Fundamental Concepts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04800" y="3353544"/>
            <a:ext cx="87050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1, Class 1 • AI/ML in Medicine and Healthcare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 Structure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855018"/>
            <a:ext cx="2717750" cy="1123801"/>
          </a:xfrm>
          <a:prstGeom prst="roundRect">
            <a:avLst>
              <a:gd name="adj" fmla="val 678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874068"/>
            <a:ext cx="271775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470" y="1045518"/>
            <a:ext cx="246120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5470" y="1601688"/>
            <a:ext cx="2461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27350" y="855018"/>
            <a:ext cx="2717750" cy="1123801"/>
          </a:xfrm>
          <a:prstGeom prst="roundRect">
            <a:avLst>
              <a:gd name="adj" fmla="val 678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27350" y="874068"/>
            <a:ext cx="271775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5621" y="1045518"/>
            <a:ext cx="246120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455621" y="1601688"/>
            <a:ext cx="2461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97501" y="855018"/>
            <a:ext cx="2717899" cy="1123801"/>
          </a:xfrm>
          <a:prstGeom prst="roundRect">
            <a:avLst>
              <a:gd name="adj" fmla="val 678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7501" y="874068"/>
            <a:ext cx="2717899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5770" y="1045518"/>
            <a:ext cx="246136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5-7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325770" y="1601688"/>
            <a:ext cx="24613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131219"/>
            <a:ext cx="8458200" cy="1308646"/>
          </a:xfrm>
          <a:prstGeom prst="roundRect">
            <a:avLst>
              <a:gd name="adj" fmla="val 582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2283619"/>
            <a:ext cx="831646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Class Format: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609600" y="2605534"/>
            <a:ext cx="4019550" cy="681930"/>
          </a:xfrm>
          <a:prstGeom prst="roundRect">
            <a:avLst>
              <a:gd name="adj" fmla="val 83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6560" y="2700784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 min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6560" y="3005584"/>
            <a:ext cx="39056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43450" y="2605534"/>
            <a:ext cx="4019550" cy="681930"/>
          </a:xfrm>
          <a:prstGeom prst="roundRect">
            <a:avLst>
              <a:gd name="adj" fmla="val 83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0410" y="2700784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80-90 min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00410" y="3005584"/>
            <a:ext cx="39056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537835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Machine Learning in Medicine?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419709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Physics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7200" y="1144488"/>
            <a:ext cx="419709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ma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57200" y="1663601"/>
            <a:ext cx="41148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factors (mass, force)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relationship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law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00600" y="905024"/>
            <a:ext cx="419709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Diseases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4800600" y="1461195"/>
            <a:ext cx="41148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variables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Nonlinear interactions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Patient-specific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to model</a:t>
            </a:r>
            <a:endParaRPr lang="en-US" sz="1200" dirty="0"/>
          </a:p>
        </p:txBody>
      </p:sp>
      <p:pic>
        <p:nvPicPr>
          <p:cNvPr id="9" name="Image 0" descr="/tmp/rasterized-gradient-61df1e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49551"/>
            <a:ext cx="8458200" cy="4286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9204" y="3663851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math can't solve biology's complexity. Solution: Learn from data instead!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372618" y="4111526"/>
            <a:ext cx="86273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05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zettabytes of medical data generated annually worldwide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333810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Rule-Based to Data-Driven AI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816918"/>
            <a:ext cx="4152900" cy="1205657"/>
          </a:xfrm>
          <a:prstGeom prst="roundRect">
            <a:avLst>
              <a:gd name="adj" fmla="val 632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816918"/>
            <a:ext cx="0" cy="120565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50" y="950268"/>
            <a:ext cx="39250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1964: ELIZA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8650" y="1239738"/>
            <a:ext cx="39250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Patient: "I am sad"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ELIZA: "How long have you been sad?"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8650" y="1715988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Explicit rules only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62500" y="816918"/>
            <a:ext cx="4152900" cy="1205657"/>
          </a:xfrm>
          <a:prstGeom prst="roundRect">
            <a:avLst>
              <a:gd name="adj" fmla="val 632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81550" y="816918"/>
            <a:ext cx="0" cy="1205657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3950" y="950268"/>
            <a:ext cx="39250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1980s: The Shift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3950" y="123973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"Medicine is too complex to capture in rules"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3950" y="1515963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Learn from data instead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57200" y="2155924"/>
            <a:ext cx="8458200" cy="428625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6250" y="2155924"/>
            <a:ext cx="0" cy="428625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600" y="2270224"/>
            <a:ext cx="8355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Computers derive their own rules from data, rather than being explicitly programmed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72618" y="2736949"/>
            <a:ext cx="86273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050"/>
              </a:spcBef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Deep learning rivals human experts in medical diagnosis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712017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Machine Learning Pipeline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372618" y="702618"/>
            <a:ext cx="86273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ML project follows these four fundamental steps: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68288"/>
            <a:ext cx="1800225" cy="891480"/>
          </a:xfrm>
          <a:prstGeom prst="roundRect">
            <a:avLst>
              <a:gd name="adj" fmla="val 6411"/>
            </a:avLst>
          </a:prstGeom>
          <a:solidFill>
            <a:srgbClr val="F8FAFC"/>
          </a:solidFill>
          <a:ln w="19050">
            <a:solidFill>
              <a:srgbClr val="0F76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5215" y="1201638"/>
            <a:ext cx="15641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5215" y="1559719"/>
            <a:ext cx="1564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1725" y="138067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76525" y="1068288"/>
            <a:ext cx="1800225" cy="891480"/>
          </a:xfrm>
          <a:prstGeom prst="roundRect">
            <a:avLst>
              <a:gd name="adj" fmla="val 6411"/>
            </a:avLst>
          </a:prstGeom>
          <a:solidFill>
            <a:srgbClr val="F8FAFC"/>
          </a:solidFill>
          <a:ln w="19050">
            <a:solidFill>
              <a:srgbClr val="0F76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94540" y="1201638"/>
            <a:ext cx="15641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94540" y="1559719"/>
            <a:ext cx="1564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Design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1050" y="138067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5850" y="1068288"/>
            <a:ext cx="1800225" cy="891480"/>
          </a:xfrm>
          <a:prstGeom prst="roundRect">
            <a:avLst>
              <a:gd name="adj" fmla="val 6411"/>
            </a:avLst>
          </a:prstGeom>
          <a:solidFill>
            <a:srgbClr val="F8FAFC"/>
          </a:solidFill>
          <a:ln w="19050">
            <a:solidFill>
              <a:srgbClr val="0F76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13865" y="1201638"/>
            <a:ext cx="15641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13865" y="1559719"/>
            <a:ext cx="1564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10375" y="138067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15175" y="1068288"/>
            <a:ext cx="1800225" cy="891480"/>
          </a:xfrm>
          <a:prstGeom prst="roundRect">
            <a:avLst>
              <a:gd name="adj" fmla="val 6411"/>
            </a:avLst>
          </a:prstGeom>
          <a:solidFill>
            <a:srgbClr val="F8FAFC"/>
          </a:solidFill>
          <a:ln w="19050">
            <a:solidFill>
              <a:srgbClr val="0F76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33190" y="1201638"/>
            <a:ext cx="15641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33190" y="1559719"/>
            <a:ext cx="1564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Testing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2112169"/>
            <a:ext cx="8458200" cy="72390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0550" y="2245519"/>
            <a:ext cx="8355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Application: Skin Cancer Detection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90550" y="2502694"/>
            <a:ext cx="8355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Classify skin lesions as benign or malignant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Data Collection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419709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57200" y="1258788"/>
            <a:ext cx="41148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of skin lesions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labeled by expert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vs. Malignant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from biopsy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00600" y="702618"/>
            <a:ext cx="419709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4800600" y="1258788"/>
            <a:ext cx="41148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 = more experience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samples crucial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data points ideal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70-90% train, 10-30%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25688"/>
            <a:ext cx="8458200" cy="415230"/>
          </a:xfrm>
          <a:prstGeom prst="roundRect">
            <a:avLst>
              <a:gd name="adj" fmla="val 9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" y="3125688"/>
            <a:ext cx="0" cy="41523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3239988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vs. Testing: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set teaches the model. Testing set evaluates on unseen data. NO OVERLAP!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2618" y="3693319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900"/>
              </a:spcBef>
              <a:buNone/>
            </a:pPr>
            <a:r>
              <a:rPr lang="en-US" sz="97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datasets allow larger test splits (e.g., 30%) while maintaining robust training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Feature Design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raw data into meaningful measurements for the ML model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1016943"/>
            <a:ext cx="8458200" cy="1390501"/>
          </a:xfrm>
          <a:prstGeom prst="roundRect">
            <a:avLst>
              <a:gd name="adj" fmla="val 548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1150293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ABCDE Rule for Skin Lesions: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0550" y="1439763"/>
            <a:ext cx="41388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24400" y="1439763"/>
            <a:ext cx="41388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irregularity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0550" y="1782663"/>
            <a:ext cx="41388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olor variation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24400" y="1782663"/>
            <a:ext cx="41388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iameter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0550" y="2087463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volving appearance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521744"/>
            <a:ext cx="13823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Features: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57200" y="2836069"/>
            <a:ext cx="135522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 score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regularity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41029" y="2521744"/>
            <a:ext cx="38787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Space: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041029" y="2778919"/>
            <a:ext cx="38787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image becomes a point in 2D space defined by its features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864769"/>
            <a:ext cx="8458200" cy="363736"/>
          </a:xfrm>
          <a:prstGeom prst="roundRect">
            <a:avLst>
              <a:gd name="adj" fmla="val 1571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1488" y="3864769"/>
            <a:ext cx="0" cy="36373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025" y="3960019"/>
            <a:ext cx="8403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should separate classes clearly in feature space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33113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Curse of Dimensionality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can't use raw pixel values (512×512×3 = ~800,000 dimensions)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1016943"/>
            <a:ext cx="8458200" cy="1191518"/>
          </a:xfrm>
          <a:prstGeom prst="roundRect">
            <a:avLst>
              <a:gd name="adj" fmla="val 639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1150293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needed to cover space: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0929" y="1439763"/>
            <a:ext cx="20013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70929" y="1851124"/>
            <a:ext cx="20013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space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647379" y="1439763"/>
            <a:ext cx="20013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647379" y="1851124"/>
            <a:ext cx="20013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space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23829" y="1439763"/>
            <a:ext cx="20013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723829" y="1851124"/>
            <a:ext cx="20013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space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800279" y="1439763"/>
            <a:ext cx="2001393" cy="42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00279" y="1901875"/>
            <a:ext cx="20013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 space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57200" y="2360861"/>
            <a:ext cx="8458200" cy="415230"/>
          </a:xfrm>
          <a:prstGeom prst="roundRect">
            <a:avLst>
              <a:gd name="adj" fmla="val 9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6250" y="2360861"/>
            <a:ext cx="0" cy="41523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2475161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needed grows exponentially with dimensions. 800,000D is impossible!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2618" y="2928491"/>
            <a:ext cx="86273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900"/>
              </a:spcBef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Solution: Deep Learning learns features automatically from data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Model Training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optimal line/boundary that separates classes in feature space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1016943"/>
            <a:ext cx="8458200" cy="4572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1016943"/>
            <a:ext cx="0" cy="4572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8254" y="1112193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w₀ + w₁x₁ + w₂x₂ = 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2618" y="1588443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classifier equation (w₀=bias, w₁,w₂=slopes)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57200" y="1875979"/>
            <a:ext cx="19390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Function g(w₀,w₁,w₂)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34939"/>
            <a:ext cx="19390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misclassifications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Goal: Minimize errors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86782" y="1875979"/>
            <a:ext cx="27027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86782" y="2134939"/>
            <a:ext cx="27027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w₀*, w₁*, w₂* that minimize cost function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649289"/>
            <a:ext cx="8458200" cy="363736"/>
          </a:xfrm>
          <a:prstGeom prst="roundRect">
            <a:avLst>
              <a:gd name="adj" fmla="val 1571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1488" y="2649289"/>
            <a:ext cx="0" cy="36373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1025" y="2744539"/>
            <a:ext cx="8403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Nonlinear Models: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Polynomial, decision trees, neural networks for complex boundaries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4: Model Testing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model on completely new, unseen testing data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1016943"/>
            <a:ext cx="8458200" cy="4572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1016943"/>
            <a:ext cx="0" cy="4572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8254" y="1112193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= Correct Predictions / Total Test Samples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88443"/>
            <a:ext cx="8458200" cy="1277987"/>
          </a:xfrm>
          <a:prstGeom prst="roundRect">
            <a:avLst>
              <a:gd name="adj" fmla="val 596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0550" y="1721793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Results: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0550" y="2011263"/>
            <a:ext cx="2654350" cy="721816"/>
          </a:xfrm>
          <a:prstGeom prst="roundRect">
            <a:avLst>
              <a:gd name="adj" fmla="val 7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1162" y="2106513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1162" y="2464594"/>
            <a:ext cx="25131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359200" y="2011263"/>
            <a:ext cx="2654350" cy="721816"/>
          </a:xfrm>
          <a:prstGeom prst="roundRect">
            <a:avLst>
              <a:gd name="adj" fmla="val 7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29811" y="2106513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811" y="2464594"/>
            <a:ext cx="25131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127849" y="2011263"/>
            <a:ext cx="2654350" cy="721816"/>
          </a:xfrm>
          <a:prstGeom prst="roundRect">
            <a:avLst>
              <a:gd name="adj" fmla="val 7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8461" y="2106513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8461" y="2464594"/>
            <a:ext cx="25131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57200" y="3018830"/>
            <a:ext cx="8458200" cy="377130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6250" y="3018830"/>
            <a:ext cx="0" cy="37713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550" y="311408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Testing reveals generalization ability—can the model handle new cases?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410837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 Taxonomy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816918"/>
            <a:ext cx="2743200" cy="1043583"/>
          </a:xfrm>
          <a:prstGeom prst="roundRect">
            <a:avLst>
              <a:gd name="adj" fmla="val 730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835968"/>
            <a:ext cx="27432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969318"/>
            <a:ext cx="2564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71500" y="1226493"/>
            <a:ext cx="256489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data</a:t>
            </a:r>
            <a:endParaRPr lang="en-US" sz="975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Classification</a:t>
            </a:r>
            <a:endParaRPr lang="en-US" sz="975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Regression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314700" y="816918"/>
            <a:ext cx="2743200" cy="1043583"/>
          </a:xfrm>
          <a:prstGeom prst="roundRect">
            <a:avLst>
              <a:gd name="adj" fmla="val 730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14700" y="835968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969318"/>
            <a:ext cx="2564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429000" y="1226493"/>
            <a:ext cx="256489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labels</a:t>
            </a:r>
            <a:endParaRPr lang="en-US" sz="975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Clustering</a:t>
            </a:r>
            <a:endParaRPr lang="en-US" sz="975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Dimensionality reduction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172200" y="816918"/>
            <a:ext cx="2743200" cy="1043583"/>
          </a:xfrm>
          <a:prstGeom prst="roundRect">
            <a:avLst>
              <a:gd name="adj" fmla="val 7302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72200" y="835968"/>
            <a:ext cx="274320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0" y="969318"/>
            <a:ext cx="2564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286500" y="1226493"/>
            <a:ext cx="256489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signals</a:t>
            </a:r>
            <a:endParaRPr lang="en-US" sz="975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Sequential decisions</a:t>
            </a:r>
            <a:endParaRPr lang="en-US" sz="975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Game playing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57200" y="1974800"/>
            <a:ext cx="8458200" cy="1876425"/>
          </a:xfrm>
          <a:prstGeom prst="roundRect">
            <a:avLst>
              <a:gd name="adj" fmla="val 406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500" y="2089100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Applications: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71500" y="2403425"/>
            <a:ext cx="822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Diagnosis (benign vs. malignant)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Regression: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Predicting blood pressure, survival time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Clustering: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 stratification, disease subtypes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Hands-On Lab</a:t>
            </a:r>
            <a:endParaRPr lang="en-US" sz="2550" dirty="0"/>
          </a:p>
        </p:txBody>
      </p:sp>
      <p:pic>
        <p:nvPicPr>
          <p:cNvPr id="4" name="Image 0" descr="/tmp/rasterized-gradient-b2f2e3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02618"/>
            <a:ext cx="8458200" cy="9181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8635" y="835968"/>
            <a:ext cx="835533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 Patients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8635" y="1300758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Pima Indians Diabetes Dataset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1735038"/>
            <a:ext cx="22119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Do: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57200" y="2020788"/>
            <a:ext cx="216857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 explore medical data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&amp; pandas operations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correlations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first ML model!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54375" y="1735038"/>
            <a:ext cx="13478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854375" y="1963638"/>
            <a:ext cx="134787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(free tier)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installation needed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Save to Drive frequently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72618" y="430678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1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colab.research.google.com now!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Class 1: Introduction to ML</dc:title>
  <dc:subject>PptxGenJS Presentation</dc:subject>
  <dc:creator>AI/ML in Medicine &amp; Healthcare Course</dc:creator>
  <cp:lastModifiedBy>AI/ML in Medicine &amp; Healthcare Course</cp:lastModifiedBy>
  <cp:revision>1</cp:revision>
  <dcterms:created xsi:type="dcterms:W3CDTF">2026-01-27T19:37:45Z</dcterms:created>
  <dcterms:modified xsi:type="dcterms:W3CDTF">2026-01-27T19:37:45Z</dcterms:modified>
</cp:coreProperties>
</file>