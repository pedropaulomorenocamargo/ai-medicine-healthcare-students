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a4e3cf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" y="1551682"/>
            <a:ext cx="5440680" cy="1089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spcAft>
                <a:spcPts val="1200"/>
              </a:spcAft>
              <a:buNone/>
            </a:pPr>
            <a:r>
              <a:rPr lang="en-US" sz="3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Mathematical Encoding of Medical Data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304800" y="2793504"/>
            <a:ext cx="870508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Aft>
                <a:spcPts val="18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2: Representing Healthcare Data as Tensors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304800" y="3353544"/>
            <a:ext cx="87050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1, Class 2 • AI/ML in Medicine and Healthcare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556570" cy="359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3"/>
              </a:lnSpc>
              <a:buNone/>
            </a:pPr>
            <a:r>
              <a:rPr lang="en-US" sz="255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Mathematical Encoding?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57200" y="702618"/>
            <a:ext cx="862736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algorithms only understand numbers. We must convert all medical data to numerical form.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49238"/>
            <a:ext cx="2157859" cy="2714625"/>
          </a:xfrm>
          <a:prstGeom prst="roundRect">
            <a:avLst>
              <a:gd name="adj" fmla="val 3531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76250" y="1049238"/>
            <a:ext cx="0" cy="271462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1163538"/>
            <a:ext cx="19289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Medical Data: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09600" y="1477863"/>
            <a:ext cx="1891159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notes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(X-rays, MRI)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 (blood type)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series (ECG, EEG)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Genomic sequences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43659" y="1049238"/>
            <a:ext cx="2223195" cy="2714625"/>
          </a:xfrm>
          <a:prstGeom prst="roundRect">
            <a:avLst>
              <a:gd name="adj" fmla="val 3427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862709" y="1049238"/>
            <a:ext cx="0" cy="2714625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6059" y="1163538"/>
            <a:ext cx="19956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Encoding: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2996059" y="1477863"/>
            <a:ext cx="1956495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vectors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Matrices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Multi-dimensional tensors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ML algorithms</a:t>
            </a:r>
            <a:endParaRPr lang="en-US" sz="1200" dirty="0"/>
          </a:p>
        </p:txBody>
      </p:sp>
      <p:pic>
        <p:nvPicPr>
          <p:cNvPr id="13" name="Image 0" descr="/tmp/rasterized-gradient-30b331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97213"/>
            <a:ext cx="8458200" cy="42862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89204" y="4011513"/>
            <a:ext cx="83941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Tensors are multi-dimensional arrays—the fundamental data structure in deep learning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323398" cy="359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3"/>
              </a:lnSpc>
              <a:buNone/>
            </a:pPr>
            <a:r>
              <a:rPr lang="en-US" sz="255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 1: Numerical Data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57200" y="702618"/>
            <a:ext cx="86273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measurable quantities—already in numerical form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457200" y="1016943"/>
            <a:ext cx="8458200" cy="1775371"/>
          </a:xfrm>
          <a:prstGeom prst="roundRect">
            <a:avLst>
              <a:gd name="adj" fmla="val 429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0550" y="1150293"/>
            <a:ext cx="83553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0550" y="1439763"/>
            <a:ext cx="4129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Vitals: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0550" y="1744563"/>
            <a:ext cx="4129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Age: 45 years</a:t>
            </a:r>
            <a:endParaRPr lang="en-US" sz="1500" dirty="0"/>
          </a:p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Rate: 72 bpm</a:t>
            </a:r>
            <a:endParaRPr lang="en-US" sz="1500" dirty="0"/>
          </a:p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BP: 120/80 mmHg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33925" y="1439763"/>
            <a:ext cx="4129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Results: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33925" y="1744563"/>
            <a:ext cx="4129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Glucose: 110 mg/dL</a:t>
            </a:r>
            <a:endParaRPr lang="en-US" sz="1500" dirty="0"/>
          </a:p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BMI: 24.5</a:t>
            </a:r>
            <a:endParaRPr lang="en-US" sz="1500" dirty="0"/>
          </a:p>
          <a:p>
            <a:pPr algn="l" indent="0" marL="0">
              <a:lnSpc>
                <a:spcPts val="24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Temp: 98.6°F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2906613"/>
            <a:ext cx="8458200" cy="45720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6250" y="2906613"/>
            <a:ext cx="0" cy="45720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8254" y="3001863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[45, 72, 120, 80, 98.6, 110, 24.5]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2618" y="3420963"/>
            <a:ext cx="86273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Scalar to Vector to Matrix representation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57200" y="3689449"/>
            <a:ext cx="8458200" cy="363736"/>
          </a:xfrm>
          <a:prstGeom prst="roundRect">
            <a:avLst>
              <a:gd name="adj" fmla="val 1571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1488" y="3689449"/>
            <a:ext cx="0" cy="363736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1025" y="3784699"/>
            <a:ext cx="84039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May need normalization (scaling) before ML processing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323398" cy="359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3"/>
              </a:lnSpc>
              <a:buNone/>
            </a:pPr>
            <a:r>
              <a:rPr lang="en-US" sz="255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 2: Categorical Data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57200" y="702618"/>
            <a:ext cx="86273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 categories requiring one-hot encoding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457200" y="1016943"/>
            <a:ext cx="8458200" cy="1622971"/>
          </a:xfrm>
          <a:prstGeom prst="roundRect">
            <a:avLst>
              <a:gd name="adj" fmla="val 4695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0550" y="1150293"/>
            <a:ext cx="83553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Encoding: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0550" y="1439763"/>
            <a:ext cx="83553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Type A: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[1, 0, 0, 0]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0550" y="1706463"/>
            <a:ext cx="83553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Type B: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[0, 1, 0, 0]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0550" y="1973163"/>
            <a:ext cx="83553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Type AB: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[0, 0, 1, 0]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0550" y="2239863"/>
            <a:ext cx="83553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Blood Type O: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[0, 0, 0, 1]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2754213"/>
            <a:ext cx="13915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Categories: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57200" y="3011388"/>
            <a:ext cx="139159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Gender: M=1, F=0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Diabetes: Yes=1, No=0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50107" y="2754213"/>
            <a:ext cx="17843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One-Hot?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2050107" y="3011388"/>
            <a:ext cx="178431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ordinal relationships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(A≠1, B≠2, AB≠3, O≠4)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323398" cy="359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3"/>
              </a:lnSpc>
              <a:buNone/>
            </a:pPr>
            <a:r>
              <a:rPr lang="en-US" sz="255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 3: Imaging Data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57200" y="702618"/>
            <a:ext cx="86273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images as multi-dimensional tensors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457200" y="1016943"/>
            <a:ext cx="8458200" cy="1491109"/>
          </a:xfrm>
          <a:prstGeom prst="roundRect">
            <a:avLst>
              <a:gd name="adj" fmla="val 511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0550" y="1150293"/>
            <a:ext cx="83553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Representations: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0550" y="1439763"/>
            <a:ext cx="4038600" cy="934938"/>
          </a:xfrm>
          <a:prstGeom prst="roundRect">
            <a:avLst>
              <a:gd name="adj" fmla="val 61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00" y="1535013"/>
            <a:ext cx="39250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Grayscale (X-ray)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759744"/>
            <a:ext cx="3925062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[Height, Width]</a:t>
            </a:r>
            <a:endParaRPr lang="en-US" sz="975" dirty="0"/>
          </a:p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 × 512 matrix</a:t>
            </a:r>
            <a:endParaRPr lang="en-US" sz="975" dirty="0"/>
          </a:p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Values: 0-255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743450" y="1439763"/>
            <a:ext cx="4038600" cy="934938"/>
          </a:xfrm>
          <a:prstGeom prst="roundRect">
            <a:avLst>
              <a:gd name="adj" fmla="val 61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38700" y="1535013"/>
            <a:ext cx="39250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(Dermoscopy)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38700" y="1759744"/>
            <a:ext cx="3925062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[Channels, H, W]</a:t>
            </a:r>
            <a:endParaRPr lang="en-US" sz="975" dirty="0"/>
          </a:p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× 512 × 512</a:t>
            </a:r>
            <a:endParaRPr lang="en-US" sz="975" dirty="0"/>
          </a:p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channels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57200" y="2622352"/>
            <a:ext cx="8458200" cy="45720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6250" y="2622352"/>
            <a:ext cx="0" cy="45720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8254" y="2717602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MRI: [Slices, Height, Width]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3193852"/>
            <a:ext cx="8458200" cy="377130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6250" y="3193852"/>
            <a:ext cx="0" cy="37713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0550" y="3289102"/>
            <a:ext cx="83941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Format: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(C, H, W) - Channels first! Different from NumPy's (H, W, C)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323398" cy="359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3"/>
              </a:lnSpc>
              <a:buNone/>
            </a:pPr>
            <a:r>
              <a:rPr lang="en-US" sz="255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 4: Time-Series Data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57200" y="702618"/>
            <a:ext cx="86273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measurements over time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457200" y="997893"/>
            <a:ext cx="8458200" cy="2308771"/>
          </a:xfrm>
          <a:prstGeom prst="roundRect">
            <a:avLst>
              <a:gd name="adj" fmla="val 330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500" y="1112193"/>
            <a:ext cx="83941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Time Series: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1500" y="1439763"/>
            <a:ext cx="8229600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ECG: Heart electrical activity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EEG: Brain waves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glucose monitoring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ICU vital signs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401913"/>
            <a:ext cx="8458200" cy="41910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6250" y="3401913"/>
            <a:ext cx="0" cy="41910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8823" y="3478113"/>
            <a:ext cx="8433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[Time_Points, Features]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2618" y="3859113"/>
            <a:ext cx="86273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24-hour ECG = [86,400 time points, 12 leads]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457200" y="4108549"/>
            <a:ext cx="8458200" cy="312390"/>
          </a:xfrm>
          <a:prstGeom prst="roundRect">
            <a:avLst>
              <a:gd name="adj" fmla="val 1829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1488" y="4108549"/>
            <a:ext cx="0" cy="312390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1975" y="4184749"/>
            <a:ext cx="84427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Variable-length sequences (RNNs, Transformers)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896612" cy="359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3"/>
              </a:lnSpc>
              <a:buNone/>
            </a:pPr>
            <a:r>
              <a:rPr lang="en-US" sz="255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Types 5 &amp; 6: Text and Genomics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57200" y="702618"/>
            <a:ext cx="2485727" cy="2295525"/>
          </a:xfrm>
          <a:prstGeom prst="roundRect">
            <a:avLst>
              <a:gd name="adj" fmla="val 332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76250" y="702618"/>
            <a:ext cx="0" cy="2295525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816918"/>
            <a:ext cx="22634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Data (EHR Notes)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609600" y="1131243"/>
            <a:ext cx="2219027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Tokenization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embeddings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BERT, GPT for medical text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symptoms, diagnoses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1527" y="702618"/>
            <a:ext cx="2393156" cy="2295525"/>
          </a:xfrm>
          <a:prstGeom prst="roundRect">
            <a:avLst>
              <a:gd name="adj" fmla="val 3320"/>
            </a:avLst>
          </a:prstGeom>
          <a:solidFill>
            <a:srgbClr val="FCE7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190577" y="702618"/>
            <a:ext cx="0" cy="2295525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23927" y="816918"/>
            <a:ext cx="21689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Genomics Data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323927" y="1131243"/>
            <a:ext cx="2126456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DNA: A, T, G, C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or integer encoding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billion+ base pairs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 expression levels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112443"/>
            <a:ext cx="8458200" cy="796230"/>
          </a:xfrm>
          <a:prstGeom prst="roundRect">
            <a:avLst>
              <a:gd name="adj" fmla="val 9570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2450" y="3207693"/>
            <a:ext cx="843305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Genomic Encoding Example: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2450" y="3432423"/>
            <a:ext cx="8267700" cy="381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71500" y="3432423"/>
            <a:ext cx="0" cy="38100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547" y="3489573"/>
            <a:ext cx="82776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ATGC → [[1,0,0,0], [0,1,0,0], [0,0,1,0], [0,0,0,1]]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323398" cy="359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3"/>
              </a:lnSpc>
              <a:buNone/>
            </a:pPr>
            <a:r>
              <a:rPr lang="en-US" sz="255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PyTorch Tensors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57200" y="702618"/>
            <a:ext cx="86273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Multi-dimensional arrays that power deep learning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457200" y="1016943"/>
            <a:ext cx="2743200" cy="1013371"/>
          </a:xfrm>
          <a:prstGeom prst="roundRect">
            <a:avLst>
              <a:gd name="adj" fmla="val 5640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26923" y="1112193"/>
            <a:ext cx="260375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0-D Scalar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52450" y="1355973"/>
            <a:ext cx="2552700" cy="381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71500" y="1355973"/>
            <a:ext cx="0" cy="38100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3697" y="1413123"/>
            <a:ext cx="24483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6923" y="1775073"/>
            <a:ext cx="26037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Shape: ()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14700" y="1016943"/>
            <a:ext cx="2743200" cy="1013371"/>
          </a:xfrm>
          <a:prstGeom prst="roundRect">
            <a:avLst>
              <a:gd name="adj" fmla="val 564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84423" y="1112193"/>
            <a:ext cx="260375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1-D Vector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09950" y="1355973"/>
            <a:ext cx="2552700" cy="381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429000" y="1355973"/>
            <a:ext cx="0" cy="38100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81197" y="1413123"/>
            <a:ext cx="24483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[120, 80, 98.6]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384423" y="1775073"/>
            <a:ext cx="26037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Shape: (3,)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72200" y="1016943"/>
            <a:ext cx="2743200" cy="1013371"/>
          </a:xfrm>
          <a:prstGeom prst="roundRect">
            <a:avLst>
              <a:gd name="adj" fmla="val 564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41923" y="1112193"/>
            <a:ext cx="260375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2-D Matrix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67450" y="1355973"/>
            <a:ext cx="2552700" cy="381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286500" y="1355973"/>
            <a:ext cx="0" cy="38100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8697" y="1413123"/>
            <a:ext cx="24483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[[...],[...]]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41923" y="1775073"/>
            <a:ext cx="26037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Shape: (768, 8)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144613"/>
            <a:ext cx="8458200" cy="723900"/>
          </a:xfrm>
          <a:prstGeom prst="roundRect">
            <a:avLst>
              <a:gd name="adj" fmla="val 52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76250" y="2144613"/>
            <a:ext cx="0" cy="72390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254" y="2239863"/>
            <a:ext cx="839419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torch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vitals = torch.tensor([120.0, 80.0, 98.6, 72.0])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2963763"/>
            <a:ext cx="8458200" cy="377130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76250" y="2963763"/>
            <a:ext cx="0" cy="37713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0550" y="3059013"/>
            <a:ext cx="83941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matters!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(768, 8) = 768 patients × 8 features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323398" cy="359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3"/>
              </a:lnSpc>
              <a:buNone/>
            </a:pPr>
            <a:r>
              <a:rPr lang="en-US" sz="255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Essential Tensor Operations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57200" y="816918"/>
            <a:ext cx="4171950" cy="853380"/>
          </a:xfrm>
          <a:prstGeom prst="roundRect">
            <a:avLst>
              <a:gd name="adj" fmla="val 669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931218"/>
            <a:ext cx="40222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Element-wise: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1174998"/>
            <a:ext cx="3943350" cy="381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0550" y="1174998"/>
            <a:ext cx="0" cy="38100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8840" y="1232148"/>
            <a:ext cx="38667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+ b, a * b, a ** 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43450" y="816918"/>
            <a:ext cx="4171950" cy="853380"/>
          </a:xfrm>
          <a:prstGeom prst="roundRect">
            <a:avLst>
              <a:gd name="adj" fmla="val 669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57750" y="931218"/>
            <a:ext cx="40222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Multiply: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57750" y="1174998"/>
            <a:ext cx="3943350" cy="381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876800" y="1174998"/>
            <a:ext cx="0" cy="38100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5091" y="1232148"/>
            <a:ext cx="38667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@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1784598"/>
            <a:ext cx="4171950" cy="853380"/>
          </a:xfrm>
          <a:prstGeom prst="roundRect">
            <a:avLst>
              <a:gd name="adj" fmla="val 669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1500" y="1898898"/>
            <a:ext cx="40222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Aggregations: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1500" y="2142679"/>
            <a:ext cx="3943350" cy="381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90550" y="2142679"/>
            <a:ext cx="0" cy="38100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840" y="2199829"/>
            <a:ext cx="38667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.sum(), .mean(), .max()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43450" y="1784598"/>
            <a:ext cx="4171950" cy="853380"/>
          </a:xfrm>
          <a:prstGeom prst="roundRect">
            <a:avLst>
              <a:gd name="adj" fmla="val 669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57750" y="1898898"/>
            <a:ext cx="40222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Reshaping: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57750" y="2142679"/>
            <a:ext cx="3943350" cy="3810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876800" y="2142679"/>
            <a:ext cx="0" cy="38100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5091" y="2199829"/>
            <a:ext cx="38667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.view(), .reshape()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2752279"/>
            <a:ext cx="8458200" cy="904875"/>
          </a:xfrm>
          <a:prstGeom prst="roundRect">
            <a:avLst>
              <a:gd name="adj" fmla="val 8421"/>
            </a:avLst>
          </a:prstGeom>
          <a:solidFill>
            <a:srgbClr val="E0F2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71500" y="2866579"/>
            <a:ext cx="83941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Acceleration: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571500" y="3123754"/>
            <a:ext cx="8229600" cy="41910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90550" y="3123754"/>
            <a:ext cx="0" cy="41910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409" y="3199954"/>
            <a:ext cx="8199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tensor.to('cuda') → 10-50x faster!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323398" cy="359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3"/>
              </a:lnSpc>
              <a:buNone/>
            </a:pPr>
            <a:r>
              <a:rPr lang="en-US" sz="255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Combining Data Types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57200" y="702618"/>
            <a:ext cx="86273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patient representation as single tensor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457200" y="1016943"/>
            <a:ext cx="8458200" cy="2613571"/>
          </a:xfrm>
          <a:prstGeom prst="roundRect">
            <a:avLst>
              <a:gd name="adj" fmla="val 291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0550" y="1150293"/>
            <a:ext cx="83553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Feature Vector: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0550" y="1439763"/>
            <a:ext cx="8191500" cy="2057400"/>
          </a:xfrm>
          <a:prstGeom prst="roundRect">
            <a:avLst>
              <a:gd name="adj" fmla="val 185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09600" y="1439763"/>
            <a:ext cx="0" cy="2057400"/>
          </a:xfrm>
          <a:prstGeom prst="line">
            <a:avLst/>
          </a:prstGeom>
          <a:noFill/>
          <a:ln w="381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271" y="1535013"/>
            <a:ext cx="8122158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= [45, 72, 120, 80, 98.6]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gender = [1, 0] # Male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blood_type = [0, 1, 0, 0] # Type B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diabetes = [1] # Yes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patient = torch.cat([numerical, gender, blood_type, diabetes])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# Shape: (12,)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782913"/>
            <a:ext cx="8458200" cy="377130"/>
          </a:xfrm>
          <a:prstGeom prst="roundRect">
            <a:avLst>
              <a:gd name="adj" fmla="val 1010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6250" y="3782913"/>
            <a:ext cx="0" cy="37713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0550" y="3878163"/>
            <a:ext cx="839419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Processing: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Stack multiple patients → (N_patients, N_features) matrix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323398" cy="359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3"/>
              </a:lnSpc>
              <a:buNone/>
            </a:pPr>
            <a:r>
              <a:rPr lang="en-US" sz="255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Today's Hands-On Lab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457200" y="702618"/>
            <a:ext cx="266052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Tensor Basics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99679"/>
            <a:ext cx="2608362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tensors (0-D, 1-D, 2-D, 3-D)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shapes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↔ PyTorch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 operations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94162" y="702618"/>
            <a:ext cx="163311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Medical Data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4162" y="999679"/>
            <a:ext cx="1601093" cy="163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 vital signs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blood types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ECG time series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patient data</a:t>
            </a:r>
            <a:endParaRPr lang="en-US" sz="1200" dirty="0"/>
          </a:p>
        </p:txBody>
      </p:sp>
      <p:pic>
        <p:nvPicPr>
          <p:cNvPr id="8" name="Image 0" descr="/tmp/rasterized-gradient-b87ab1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885629"/>
            <a:ext cx="8458200" cy="4933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8635" y="3018979"/>
            <a:ext cx="8355330" cy="226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Goal: Master tensor operations for medical ML!</a:t>
            </a:r>
            <a:endParaRPr lang="en-US" sz="1275" dirty="0"/>
          </a:p>
        </p:txBody>
      </p:sp>
      <p:sp>
        <p:nvSpPr>
          <p:cNvPr id="10" name="Text 7"/>
          <p:cNvSpPr/>
          <p:nvPr/>
        </p:nvSpPr>
        <p:spPr>
          <a:xfrm>
            <a:off x="372618" y="3512344"/>
            <a:ext cx="862736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1050"/>
              </a:spcBef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Colab notebook now!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Class 2: Mathematical Encoding</dc:title>
  <dc:subject>PptxGenJS Presentation</dc:subject>
  <dc:creator>AI/ML in Medicine &amp; Healthcare Course</dc:creator>
  <cp:lastModifiedBy>AI/ML in Medicine &amp; Healthcare Course</cp:lastModifiedBy>
  <cp:revision>1</cp:revision>
  <dcterms:created xsi:type="dcterms:W3CDTF">2026-01-27T19:40:34Z</dcterms:created>
  <dcterms:modified xsi:type="dcterms:W3CDTF">2026-01-27T19:40:34Z</dcterms:modified>
</cp:coreProperties>
</file>